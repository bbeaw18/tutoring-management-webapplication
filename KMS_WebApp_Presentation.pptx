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0E5F5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480560"/>
            <a:ext cx="2926080" cy="2926080"/>
          </a:xfrm>
          <a:prstGeom prst="ellipse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937760"/>
            <a:ext cx="2743200" cy="2743200"/>
          </a:xfrm>
          <a:prstGeom prst="ellipse">
            <a:avLst/>
          </a:prstGeom>
          <a:solidFill>
            <a:srgbClr val="0E5F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KMS WebApp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แพลตฟอร์มบริหารสถาบันกวดวิชาออนไลน์แบบครบวงจร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EB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Full-stack Tutoring Management Platform · Angular 17 · Node/Express · MongoDB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1988820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74920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บทบาทผู้ใช้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40380" y="5074920"/>
            <a:ext cx="1741932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0380" y="507492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RBAC 2 ชั้น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50749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5074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PromptPay / K-Bank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45552" y="50749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5552" y="5074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TOTP 2FA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9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นำเสนอโดย  Teeramed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ภาพรวมโปรเจค  · 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ระบบเดียวที่ดูแลทั้งวงจรการสอนตั้งแต่ต้นจนจบ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KMS WebApp แทนที่การทำงานแบบเดิมที่กระจายอยู่บน LINE และ Google Sheets ด้วยระบบเดียว ที่ครอบคลุมการจองคลาส เช็คชื่อ เก็บค่าเรียน จ่ายค่าจ้างครู และวิเคราะห์รายได้รายเดือน ผ่านแดชบอร์ดตามบทบาทผู้ใช้ (Admin / Manager / Teacher / Student)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081528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320954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657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บทบาทผู้ใช้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roles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66160" y="278892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86200" y="3081528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320954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3657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384048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 route modules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+ 11 data models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92240" y="278892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12280" y="3081528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320954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8272" y="3657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676656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Angular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standalone components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418320" y="278892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38360" y="3081528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376" y="320954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74352" y="3657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102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969264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commits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104 source files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8A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ตัวเลขนับจากซอร์สโค้ดจริง (ไม่รวม node_modules)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ที่มาของปัญหา  ·  PROBLEM →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จากสเปรดชีตกระจัดกระจาย สู่ระบบเดียวที่เชื่อถือได้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BF1E7"/>
          </a:solidFill>
          <a:ln w="12700">
            <a:solidFill>
              <a:srgbClr val="F0D6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F3E0C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67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B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เดิม  ·  Before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A5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จองคลาสและยืนยันผ่านแชต LINE ตกหล่นได้ง่าย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A5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ตารางเรียน–รายได้–ค่าจ้างครู อยู่คนละ Google Sheet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A5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คำนวณรายได้/กำไรรายเดือนด้วยมือ ผิดพลาดบ่อย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A5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ไม่มีหลักฐานการชำระเงินและประวัติที่ตรวจสอบได้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9F4F1"/>
          </a:solidFill>
          <a:ln w="12700">
            <a:solidFill>
              <a:srgbClr val="BEE0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103120"/>
            <a:ext cx="640080" cy="640080"/>
          </a:xfrm>
          <a:prstGeom prst="ellipse">
            <a:avLst/>
          </a:prstGeom>
          <a:solidFill>
            <a:srgbClr val="CDE8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67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  ·  After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3017520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51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จอง–ยืนยันคลาสในระบบ มีแจ้งเตือนในแอป + อีเมล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51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 เช็คชื่อ ชำระเงิน ค่าจ้าง อยู่ในฐานข้อมูลเดียว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51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แดชบอร์ดสรุป KPI และกำไรสุทธิรายเดือนอัตโนมัติ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E51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Soft-delete เก็บประวัติการเงิน/เข้าเรียนไว้ตรวจสอบ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ผู้ใช้งาน  ·  ROLE-BASED DASHBOARDS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แดชบอร์ดที่ออกแบบเฉพาะสำหรับแต่ละบทบาท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868680" cy="868680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377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36301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เจ้าของ/ผู้ดูแลระบบ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32688" y="4114800"/>
            <a:ext cx="2020824" cy="0"/>
          </a:xfrm>
          <a:prstGeom prst="line">
            <a:avLst/>
          </a:prstGeom>
          <a:noFill/>
          <a:ln w="12700">
            <a:solidFill>
              <a:srgbClr val="E4EA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42519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เห็นทุกอย่าง: รายได้ ค่าจ้าง ค่าใช้จ่าย จัดการผู้ใช้และตั้งค่าระบบ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566160" y="178308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58768" y="2148840"/>
            <a:ext cx="868680" cy="868680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23774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58768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858768" y="36301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ฝ่ายปฏิบัติการรายวัน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858768" y="4114800"/>
            <a:ext cx="2020824" cy="0"/>
          </a:xfrm>
          <a:prstGeom prst="line">
            <a:avLst/>
          </a:prstGeom>
          <a:noFill/>
          <a:ln w="12700">
            <a:solidFill>
              <a:srgbClr val="E4EA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58768" y="42519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จองคลาส ยืนยันการเรียนจบ รันแดชบอร์ดรายได้ และจ่ายค่าจ้างครู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92240" y="178308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84848" y="2148840"/>
            <a:ext cx="868680" cy="868680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3774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84848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Teacher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784848" y="36301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ครูผู้สอน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784848" y="4114800"/>
            <a:ext cx="2020824" cy="0"/>
          </a:xfrm>
          <a:prstGeom prst="line">
            <a:avLst/>
          </a:prstGeom>
          <a:noFill/>
          <a:ln w="12700">
            <a:solidFill>
              <a:srgbClr val="E4EAE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784848" y="42519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ดูปฏิทินของตน ยืนยันคลาส เช็คชื่อด้วย QR เลื่อนคลาส และดูรายได้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418320" y="178308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710928" y="2148840"/>
            <a:ext cx="868680" cy="868680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528" y="237744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710928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Student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710928" y="36301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นักเรียน/ผู้ปกครอง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710928" y="4114800"/>
            <a:ext cx="2020824" cy="0"/>
          </a:xfrm>
          <a:prstGeom prst="line">
            <a:avLst/>
          </a:prstGeom>
          <a:noFill/>
          <a:ln w="12700">
            <a:solidFill>
              <a:srgbClr val="E4EAE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710928" y="42519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ดูคลาสที่จะถึง ตอบรับคำเชิญ ชำระค่าเรียนผ่าน QR และดูประวัติ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หัวใจของระบบ  ·  TEACHING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ทุกคลาสเดินตามวงจรเดียวที่ตรวจสอบได้ทุกขั้น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7132" y="20574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8632" y="2377440"/>
            <a:ext cx="914400" cy="91440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088" y="259689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11300" y="2313432"/>
            <a:ext cx="475488" cy="47548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5"/>
          <p:cNvSpPr/>
          <p:nvPr/>
        </p:nvSpPr>
        <p:spPr>
          <a:xfrm>
            <a:off x="1711300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6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4292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จองคลาส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0012" y="3886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 จองคลาสเดี่ยวหรือรายสัปดาห์ ระบบผูก seriesId ให้ทั้งชุด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70252" y="3511296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Shape 9"/>
          <p:cNvSpPr/>
          <p:nvPr/>
        </p:nvSpPr>
        <p:spPr>
          <a:xfrm>
            <a:off x="2717140" y="20574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88640" y="2377440"/>
            <a:ext cx="914400" cy="91440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096" y="2596896"/>
            <a:ext cx="475488" cy="475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61308" y="2313432"/>
            <a:ext cx="475488" cy="47548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6" name="Text 12"/>
          <p:cNvSpPr/>
          <p:nvPr/>
        </p:nvSpPr>
        <p:spPr>
          <a:xfrm>
            <a:off x="4061308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6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854300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900020" y="3886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ครูและนักเรียนยืนยันคลาส (แจ้งเตือนในแอป + อีเมล) ทีละครั้ง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20260" y="3511296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Shape 16"/>
          <p:cNvSpPr/>
          <p:nvPr/>
        </p:nvSpPr>
        <p:spPr>
          <a:xfrm>
            <a:off x="5067148" y="20574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596896"/>
            <a:ext cx="475488" cy="47548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11316" y="2313432"/>
            <a:ext cx="475488" cy="47548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4" name="Text 19"/>
          <p:cNvSpPr/>
          <p:nvPr/>
        </p:nvSpPr>
        <p:spPr>
          <a:xfrm>
            <a:off x="6411316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6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204308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เช็คชื่อ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250028" y="3886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วันเรียนครูเปิดหน้า QR ให้นักเรียนสแกนเข้าเรียน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170268" y="3511296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Shape 23"/>
          <p:cNvSpPr/>
          <p:nvPr/>
        </p:nvSpPr>
        <p:spPr>
          <a:xfrm>
            <a:off x="7417156" y="20574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988656" y="2377440"/>
            <a:ext cx="914400" cy="91440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112" y="2596896"/>
            <a:ext cx="475488" cy="47548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761324" y="2313432"/>
            <a:ext cx="475488" cy="47548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32" name="Text 26"/>
          <p:cNvSpPr/>
          <p:nvPr/>
        </p:nvSpPr>
        <p:spPr>
          <a:xfrm>
            <a:off x="8761324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6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554316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ปิดคลาส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600036" y="3886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 ยืนยันจบคลาส ล็อกชั่วโมงสอน/เรียนเข้ายอดสะสม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520276" y="3511296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6" name="Shape 30"/>
          <p:cNvSpPr/>
          <p:nvPr/>
        </p:nvSpPr>
        <p:spPr>
          <a:xfrm>
            <a:off x="9767164" y="20574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338664" y="2377440"/>
            <a:ext cx="914400" cy="91440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8120" y="2596896"/>
            <a:ext cx="475488" cy="475488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1111332" y="2313432"/>
            <a:ext cx="475488" cy="47548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40" name="Text 33"/>
          <p:cNvSpPr/>
          <p:nvPr/>
        </p:nvSpPr>
        <p:spPr>
          <a:xfrm>
            <a:off x="11111332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6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9904324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 &amp; จ่าย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9950044" y="3886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เก็บค่าเรียนผ่าน QR แล้วจ่ายค่าจ้างครูจากแดชบอร์ดเดียว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สถานะของคลาสถูกคำนวณกลางที่ backend (deriveDisplayStatus) แล้วส่งไปทุกหน้า — ปฏิทิน ประวัติ และรายได้เห็นตรงกันเสมอ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ฟีเจอร์เด่น 1  ·  SCHEDULING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ปฏิทินอัจฉริยะ: ซีรีส์ ลากเลื่อน และคลาสข้ามคืน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48256"/>
            <a:ext cx="768096" cy="768096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24942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476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Series-aware booking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31343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จองรายสัปดาห์จนถึงสิ้นเดือนในคลิกเดียว พร้อมพรีวิววันที่จริง ผูก seriesId ให้จัดการทั้งชุดได้ (ยกเลิก/ยืนยันจบ) พร้อม progress chip ‘2/4 ครั้งที่เสร็จสิ้น’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82696"/>
            <a:ext cx="109270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547872"/>
            <a:ext cx="768096" cy="768096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749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447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Drag-to-reschedule + hold-gate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965960" y="381304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ลากเลื่อนคลาสได้หลังกดค้าง 1.3 วินาที (มี progress bar) กันคลิกพลาด สแนป 30 นาที ข้ามคอลัมน์เปลี่ยนวันได้ backend ตรวจสิทธิ์เจ้าของคลาส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782312"/>
            <a:ext cx="109270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5047488"/>
            <a:ext cx="768096" cy="768096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524865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94690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Overnight-aware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312664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คลาสข้ามเที่ยงคืน (เช่น 22:00–01:00) ใช้กติกา modulo 24h ชุดเดียวร่วมกันทั้งโมเดล อีเมล การคิดรายได้ และการเรนเดอร์ปฏิทิน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ฟีเจอร์เด่น 2  ·  PAYMENTS &amp;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เก็บเงิน จ่ายครู และวัดกำไรในที่เดียว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731520" cy="73152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การชำระเงิน &amp; Payout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ชำระค่าเรียนต่อการเข้าเรียน ผ่าน PromptPay QR หรือ K-Bank OpenAPI</a:t>
            </a:r>
            <a:endParaRPr lang="en-US" sz="1250" dirty="0"/>
          </a:p>
          <a:p>
            <a:pPr marL="190500" indent="-1905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TeacherPayout เป็นคอลเลกชันแยก (1 แถว/ครู/เดือน) มี unique index กันจ่ายซ้ำ</a:t>
            </a:r>
            <a:endParaRPr lang="en-US" sz="1250" dirty="0"/>
          </a:p>
          <a:p>
            <a:pPr marL="190500" indent="-1905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โมดัลจ่ายค่าจ้าง: แสดงช่องทาง–เลขบัญชี (กดคัดลอก)–ชื่อครู แล้วบันทึก + แจ้งเตือนครู</a:t>
            </a:r>
            <a:endParaRPr lang="en-US" sz="1250" dirty="0"/>
          </a:p>
          <a:p>
            <a:pPr marL="190500" indent="-1905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แยก ‘จ่ายแล้ว / ค้างจ่าย’ อัปเดตสดทันที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0B3B38"/>
          </a:solidFill>
          <a:ln w="12700">
            <a:solidFill>
              <a:srgbClr val="0B3B3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20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 Dashboard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208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EB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แยกตามเดือน · เจาะดูคลาสรายครูได้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0840" y="306324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12524C"/>
          </a:solidFill>
          <a:ln/>
        </p:spPr>
      </p:sp>
      <p:sp>
        <p:nvSpPr>
          <p:cNvPr id="13" name="Text 10"/>
          <p:cNvSpPr/>
          <p:nvPr/>
        </p:nvSpPr>
        <p:spPr>
          <a:xfrm>
            <a:off x="6903720" y="30632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E7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กำไรสุทธิ = รายได้รวม − (ค่าจ้างครู + รายได้ Manager)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66560" y="4233672"/>
            <a:ext cx="182880" cy="1828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4133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รายได้รวม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66560" y="4690872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7086600" y="4590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จ่ายแล้ว / ค้างจ่าย (แยกสี)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766560" y="5148072"/>
            <a:ext cx="182880" cy="182880"/>
          </a:xfrm>
          <a:prstGeom prst="ellipse">
            <a:avLst/>
          </a:prstGeom>
          <a:solidFill>
            <a:srgbClr val="CFE3E0"/>
          </a:solidFill>
          <a:ln/>
        </p:spPr>
      </p:sp>
      <p:sp>
        <p:nvSpPr>
          <p:cNvPr id="19" name="Text 16"/>
          <p:cNvSpPr/>
          <p:nvPr/>
        </p:nvSpPr>
        <p:spPr>
          <a:xfrm>
            <a:off x="7086600" y="5047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กำไรสุทธิ + กราฟวงกลมรายครู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  · 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เครื่องมือที่เลือกใช้ในแต่ละเลเยอร์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03120"/>
            <a:ext cx="777240" cy="777240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23088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32688" y="3474720"/>
            <a:ext cx="2020824" cy="0"/>
          </a:xfrm>
          <a:prstGeom prst="line">
            <a:avLst/>
          </a:prstGeom>
          <a:noFill/>
          <a:ln w="12700">
            <a:solidFill>
              <a:srgbClr val="E4EA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3611880"/>
            <a:ext cx="2103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Angular 17 (standalone)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TypeScript 5.2 strict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RxJS · GSAP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FullCalendar 6.1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CSS design system (hand-rolled)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66160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58768" y="2103120"/>
            <a:ext cx="777240" cy="777240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364" y="23088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858768" y="3474720"/>
            <a:ext cx="2020824" cy="0"/>
          </a:xfrm>
          <a:prstGeom prst="line">
            <a:avLst/>
          </a:prstGeom>
          <a:noFill/>
          <a:ln w="12700">
            <a:solidFill>
              <a:srgbClr val="E4EA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58768" y="3611880"/>
            <a:ext cx="2103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Node.js · Express 4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MongoDB 7 · Mongoose 7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REST: { success, data, message }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helmet · CORS · rate-limit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multer file upload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92240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84848" y="2103120"/>
            <a:ext cx="777240" cy="777240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444" y="23088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 &amp; Security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784848" y="3474720"/>
            <a:ext cx="2020824" cy="0"/>
          </a:xfrm>
          <a:prstGeom prst="line">
            <a:avLst/>
          </a:prstGeom>
          <a:noFill/>
          <a:ln w="12700">
            <a:solidFill>
              <a:srgbClr val="E4EAE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784848" y="3611880"/>
            <a:ext cx="2103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JWT + bcrypt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TOTP 2FA (speakeasy)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QR token แยกสำหรับเช็คชื่อ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RBAC สองชั้น (BE + FE)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418320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10928" y="2103120"/>
            <a:ext cx="777240" cy="777240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7524" y="23088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71092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Payments &amp; Email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710928" y="3474720"/>
            <a:ext cx="2020824" cy="0"/>
          </a:xfrm>
          <a:prstGeom prst="line">
            <a:avLst/>
          </a:prstGeom>
          <a:noFill/>
          <a:ln w="12700">
            <a:solidFill>
              <a:srgbClr val="E4EAE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710928" y="3611880"/>
            <a:ext cx="2103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PromptPay QR (promptpay-qr)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qrcode generator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Kasikorn Bank OpenAPI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Nodemailer (HTML templates)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  ·  REQUEST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การควบคุมสิทธิ์แบบ Defense-in-Depth สองชั้น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7132" y="1920240"/>
            <a:ext cx="2057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1784" y="2176272"/>
            <a:ext cx="768096" cy="768096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952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6860" y="301752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5148" y="336499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 JWT เก็บใน localStorage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396" y="2811780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17140" y="1920240"/>
            <a:ext cx="2057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61792" y="2176272"/>
            <a:ext cx="768096" cy="768096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960" y="23774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26868" y="301752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AuthInterceptor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845156" y="336499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 Bearer token ทุก request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04" y="2811780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67148" y="1920240"/>
            <a:ext cx="2057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711800" y="2176272"/>
            <a:ext cx="768096" cy="768096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968" y="2377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76876" y="301752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authenticateToken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195164" y="336499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 ตรวจ token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412" y="2811780"/>
            <a:ext cx="182880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17156" y="1920240"/>
            <a:ext cx="2057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061808" y="2176272"/>
            <a:ext cx="768096" cy="768096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76" y="237744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26884" y="301752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roleCheck([roles])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545172" y="336499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กั้น route ตามบทบาท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9420" y="2811780"/>
            <a:ext cx="182880" cy="18288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767164" y="1920240"/>
            <a:ext cx="2057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411816" y="2176272"/>
            <a:ext cx="768096" cy="768096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2984" y="2377440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876892" y="301752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roleGuard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9895180" y="336499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 มิเรอร์การตรวจซ้ำ</a:t>
            </a:r>
            <a:endParaRPr lang="en-US" sz="1050" dirty="0"/>
          </a:p>
        </p:txBody>
      </p:sp>
      <p:sp>
        <p:nvSpPr>
          <p:cNvPr id="33" name="Shape 22"/>
          <p:cNvSpPr/>
          <p:nvPr/>
        </p:nvSpPr>
        <p:spPr>
          <a:xfrm>
            <a:off x="640080" y="4343400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EAF3F1"/>
          </a:solidFill>
          <a:ln w="12700">
            <a:solidFill>
              <a:srgbClr val="CFE6E0"/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4663440"/>
            <a:ext cx="685800" cy="6858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874520" y="4526280"/>
            <a:ext cx="9464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Ownership check ในระดับ handler 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operation ที่อ่อนไหว เช่น ครูเลื่อนคลาสของตนเอง จะตรวจ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E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schedule.teacher === req.user.id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ซ้ำภายใน handler อีกชั้น ไม่เชื่อ client และทุก response ใช้สัญญาเดียว { success, data, message, pagination 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จุดเด่นเชิงวิศวกรรม  ·  ENGINEERING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การตัดสินใจออกแบบที่แก้ปัญหาจริง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214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Date-gated pricing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เปลี่ยนจากคิดค่าเรียนแบบเหมา เป็นคิดรายชั่วโมง ด้วย effective-date cutoff — คลาสเก่าคงราคาเดิม ไม่ต้อง migrate ข้อมูล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99339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12140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12664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Payroll integrity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9432" y="265176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ชั่วโมงสอน/เรียนถูก reverse เมื่อคลาสที่จบแล้วถูกยกเลิก มีสคริปต์ recompute-hours แบบ idempotent สร้างยอดใหม่ได้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99339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12140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5984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Soft-delete ทุกอย่าง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65176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ใช้ธง isActive แทนการลบจริง เก็บประวัติการเงิน/เข้าเรียนเพื่อการตรวจสอบ ลบถาวรมีขั้นยืนยันเพิ่ม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91363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04164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9344" y="3913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Display-status pipeline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457200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 UI 6 แบบคำนวณกลางที่ backend แล้วแนบไปทุก response ปฏิทิน/ประวัติ/รายได้ เห็น label ตรงกัน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391363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04164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12664" y="3913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Transactional email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9432" y="457200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อีเมลจอง/แก้/เลื่อน แสดงสูตร rate × hours = total ใช้ helper เดียวกันทุก path ข้อความจึงสอดคล้อง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91363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041648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5984" y="3913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Consistent API contract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57200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endpoint คืน { success, data, message, pagination } จัดการฝั่ง client แบบเดียว แนบ metadata ได้ที่เดียว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  ·  AUTH HARDENING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ป้องกันหลายชั้น ไม่เชื่อ client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671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69748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 hash ด้วย bcrypt · เซสชันผ่าน JWT ที่ interceptor แนบให้อัตโนมัติ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039112"/>
            <a:ext cx="566928" cy="566928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1671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12664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TOTP 2FA (opt-in)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9432" y="269748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บัญชีที่ต้องการความปลอดภัยสูงเปิด 2FA ด้วย speakeasy ได้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039112"/>
            <a:ext cx="566928" cy="566928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1671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5984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Short-lived QR token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69748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หน้าเช็คชื่อใช้ token อายุสั้นแยกจาก JWT ไม่เปิดเผย credential อายุยาว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675888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931920"/>
            <a:ext cx="566928" cy="566928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05993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9344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Defense-in-depth RBAC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459028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ตรวจสิทธิ์ทั้ง backend (authenticateToken → roleCheck) และ frontend (roleGuard)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675888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3931920"/>
            <a:ext cx="566928" cy="566928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05993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12664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hardening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9432" y="459028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helmet, CORS allowlist และ rate-limit (auth 20/15 นาที) บนทุก request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675888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931920"/>
            <a:ext cx="566928" cy="566928"/>
          </a:xfrm>
          <a:prstGeom prst="ellipse">
            <a:avLst/>
          </a:prstGeom>
          <a:solidFill>
            <a:srgbClr val="0E5F5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05993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5984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Ownership guards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59028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operation อ่อนไหวตรวจความเป็นเจ้าของซ้ำในระดับ handler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ก้าวต่อไป  · 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สิ่งที่วางแผนพัฒนาต่อ (รู้ข้อจำกัดของระบบ)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54580"/>
            <a:ext cx="914400" cy="914400"/>
          </a:xfrm>
          <a:prstGeom prst="ellipse">
            <a:avLst/>
          </a:prstGeom>
          <a:solidFill>
            <a:srgbClr val="FBF1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5923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Automated testing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48840" y="27432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unit + e2e test และตั้ง linter ให้ทั้ง backend และ frontend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920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354580"/>
            <a:ext cx="914400" cy="914400"/>
          </a:xfrm>
          <a:prstGeom prst="ellipse">
            <a:avLst/>
          </a:prstGeom>
          <a:solidFill>
            <a:srgbClr val="FBF1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25923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Realtime updates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863840" y="27432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แทน polling ด้วย WebSockets / SSE เพื่ออัปเดตสถานะแบบเรียลไทม์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457700"/>
            <a:ext cx="914400" cy="914400"/>
          </a:xfrm>
          <a:prstGeom prst="ellipse">
            <a:avLst/>
          </a:prstGeom>
          <a:solidFill>
            <a:srgbClr val="FBF1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46954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4343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indexing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148840" y="4846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index ของ MongoDB สำหรับ aggregation รายงานที่หนัก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AE8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38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4457700"/>
            <a:ext cx="914400" cy="914400"/>
          </a:xfrm>
          <a:prstGeom prst="ellipse">
            <a:avLst/>
          </a:prstGeom>
          <a:solidFill>
            <a:srgbClr val="FBF1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469544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63840" y="4343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layer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863840" y="4846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ย้าย logic จาก route handler เข้าชั้น services/ ให้ route บางลง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371600"/>
            <a:ext cx="3657600" cy="3657600"/>
          </a:xfrm>
          <a:prstGeom prst="ellipse">
            <a:avLst/>
          </a:prstGeom>
          <a:solidFill>
            <a:srgbClr val="0E5F5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 · 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ระบบเดียวที่ครบทั้งการสอน การเงิน และการวัดผล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KMS WebApp เป็นงาน full-stack ที่แสดงทั้งความเข้าใจโจทย์ธุรกิจจริงและวินัยทางวิศวกรรม — RBAC สองชั้น สัญญา API ที่สม่ำเสมอ soft-delete เพื่อการตรวจสอบ และการจัดการเงิน/ชั่วโมงที่ถูกต้องแม่นยำ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618488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Angular 17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70048" y="4160520"/>
            <a:ext cx="2112264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416052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 · Express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10912" y="4160520"/>
            <a:ext cx="1248156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4160520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MongoDB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87668" y="4160520"/>
            <a:ext cx="1495044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7668" y="4160520"/>
            <a:ext cx="1495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JWT · 2FA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11312" y="41605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2524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PromptPay / K-Bank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166360"/>
            <a:ext cx="10515600" cy="0"/>
          </a:xfrm>
          <a:prstGeom prst="line">
            <a:avLst/>
          </a:prstGeom>
          <a:noFill/>
          <a:ln w="12700">
            <a:solidFill>
              <a:srgbClr val="2A6F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94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  ·  Thank you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BEB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Teeramed  ·  b.beaw18@gmail.com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KMS WebApp — Project Presentation</dc:title>
  <dc:subject>PptxGenJS Presentation</dc:subject>
  <dc:creator>Teeramed</dc:creator>
  <cp:lastModifiedBy>Teeramed</cp:lastModifiedBy>
  <cp:revision>1</cp:revision>
  <dcterms:created xsi:type="dcterms:W3CDTF">2026-07-02T14:55:38Z</dcterms:created>
  <dcterms:modified xsi:type="dcterms:W3CDTF">2026-07-02T14:55:38Z</dcterms:modified>
</cp:coreProperties>
</file>